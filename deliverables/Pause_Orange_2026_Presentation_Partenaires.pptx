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use_orang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_cov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12648" y="566928"/>
            <a:ext cx="146304" cy="146304"/>
          </a:xfrm>
          <a:prstGeom prst="ellipse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02920"/>
            <a:ext cx="5577840" cy="27432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MOUVEMENT D’ACTION DES JEUNES  •  COTONOU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1243584"/>
            <a:ext cx="1572768" cy="347472"/>
          </a:xfrm>
          <a:prstGeom prst="round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71016"/>
            <a:ext cx="1481328" cy="256032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2ᵉ ÉDITION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5212080" cy="69494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 i="0">
                <a:solidFill>
                  <a:srgbClr val="FFFFFF"/>
                </a:solidFill>
                <a:latin typeface="Aptos Display"/>
              </a:rPr>
              <a:t>PAUSE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212080" cy="69494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 i="0">
                <a:solidFill>
                  <a:srgbClr val="FFFFFF"/>
                </a:solidFill>
                <a:latin typeface="Aptos Display"/>
              </a:rPr>
              <a:t>ORANGE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227832"/>
            <a:ext cx="1828800" cy="38404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26B35"/>
                </a:solidFill>
                <a:latin typeface="Aptos Display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822191"/>
            <a:ext cx="5394960" cy="27432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6B35"/>
                </a:solidFill>
                <a:latin typeface="Aptos"/>
              </a:rPr>
              <a:t>16 JOURS D’ACTIVISME CONTRE LES VBG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178808"/>
            <a:ext cx="5577840" cy="98755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Aptos"/>
              </a:rPr>
              <a:t>S’unir pour prévenir et mettre fin</a:t>
            </a:r>
            <a:br/>
            <a:r>
              <a:rPr sz="1650" b="0" i="0">
                <a:solidFill>
                  <a:srgbClr val="FFFFFF"/>
                </a:solidFill>
                <a:latin typeface="Aptos"/>
              </a:rPr>
              <a:t>aux violences faites aux femmes et aux filles.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" y="5440680"/>
            <a:ext cx="740664" cy="0"/>
          </a:xfrm>
          <a:prstGeom prst="line">
            <a:avLst/>
          </a:prstGeom>
          <a:ln w="27940">
            <a:solidFill>
              <a:srgbClr val="F2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" y="5596128"/>
            <a:ext cx="5212080" cy="27432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25 NOV. — 10 DÉC. 2026  |  COTONOU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5925312"/>
            <a:ext cx="5212080" cy="2194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EB8C6"/>
                </a:solidFill>
                <a:latin typeface="Aptos"/>
              </a:rPr>
              <a:t>Présentation aux partenaires et bailleurs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6528816"/>
            <a:ext cx="2651760" cy="14630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3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FFFFFF"/>
                </a:solidFill>
                <a:latin typeface="Aptos"/>
              </a:rPr>
              <a:t>Visuel d’illustration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01 • LE CONSTAT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8638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C2938"/>
                </a:solidFill>
                <a:latin typeface="Aptos Display"/>
              </a:rPr>
              <a:t>La violence laisse aussi</a:t>
            </a:r>
            <a:br/>
            <a:r>
              <a:rPr sz="2700" b="1" i="0">
                <a:solidFill>
                  <a:srgbClr val="1C2938"/>
                </a:solidFill>
                <a:latin typeface="Aptos Display"/>
              </a:rPr>
              <a:t>une empreinte invisible.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90472"/>
            <a:ext cx="10881360" cy="36576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657286"/>
                </a:solidFill>
                <a:latin typeface="Aptos"/>
              </a:rPr>
              <a:t>Les VBG touchent la santé, les droits et les trajectoires de vie — particulièrement celles des femmes, des filles et des jeunes.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984248"/>
            <a:ext cx="5330952" cy="3364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231136"/>
            <a:ext cx="4526280" cy="2194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DES FORMES MULTIPLES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660904"/>
            <a:ext cx="2148840" cy="438912"/>
          </a:xfrm>
          <a:prstGeom prst="roundRect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706624"/>
            <a:ext cx="1929384" cy="33832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C2938"/>
                </a:solidFill>
                <a:latin typeface="Aptos"/>
              </a:rPr>
              <a:t>Physiques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660904"/>
            <a:ext cx="2386584" cy="438912"/>
          </a:xfrm>
          <a:prstGeom prst="roundRect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2706624"/>
            <a:ext cx="2167128" cy="33832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C2938"/>
                </a:solidFill>
                <a:latin typeface="Aptos"/>
              </a:rPr>
              <a:t>Sexuelles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3319272"/>
            <a:ext cx="2148840" cy="438912"/>
          </a:xfrm>
          <a:prstGeom prst="roundRect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364991"/>
            <a:ext cx="1929384" cy="33832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C2938"/>
                </a:solidFill>
                <a:latin typeface="Aptos"/>
              </a:rPr>
              <a:t>Psychologiques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319272"/>
            <a:ext cx="2386584" cy="438912"/>
          </a:xfrm>
          <a:prstGeom prst="roundRect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3364991"/>
            <a:ext cx="2167128" cy="33832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C2938"/>
                </a:solidFill>
                <a:latin typeface="Aptos"/>
              </a:rPr>
              <a:t>Économiques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" y="3977639"/>
            <a:ext cx="4709160" cy="438912"/>
          </a:xfrm>
          <a:prstGeom prst="roundRect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023359"/>
            <a:ext cx="4489704" cy="33832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C2938"/>
                </a:solidFill>
                <a:latin typeface="Aptos"/>
              </a:rPr>
              <a:t>Numériques : cyberharcèlement, diffusion non consentie d’images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645152"/>
            <a:ext cx="4636008" cy="49377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286"/>
                </a:solidFill>
                <a:latin typeface="Aptos"/>
              </a:rPr>
              <a:t>Les jeunes y sont exposés à l’école, dans les relations affectives et sur les réseaux sociaux.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984248"/>
            <a:ext cx="5394960" cy="3364992"/>
          </a:xfrm>
          <a:prstGeom prst="round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475488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L’IMPACT SUR LA SANTÉ MENTALE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06624"/>
            <a:ext cx="4617720" cy="122529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Anxiété  •  dépression</a:t>
            </a:r>
            <a:br/>
            <a:r>
              <a:rPr sz="1800" b="1" i="0">
                <a:solidFill>
                  <a:srgbClr val="FFFFFF"/>
                </a:solidFill>
                <a:latin typeface="Aptos"/>
              </a:rPr>
              <a:t>Troubles du sommeil</a:t>
            </a:r>
            <a:br/>
            <a:r>
              <a:rPr sz="1800" b="1" i="0">
                <a:solidFill>
                  <a:srgbClr val="FFFFFF"/>
                </a:solidFill>
                <a:latin typeface="Aptos"/>
              </a:rPr>
              <a:t>Stress post-traumatique</a:t>
            </a:r>
            <a:br/>
            <a:r>
              <a:rPr sz="1800" b="1" i="0">
                <a:solidFill>
                  <a:srgbClr val="FFFFFF"/>
                </a:solidFill>
                <a:latin typeface="Aptos"/>
              </a:rPr>
              <a:t>Perte d’estime de soi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2240" y="4352544"/>
            <a:ext cx="4736592" cy="0"/>
          </a:xfrm>
          <a:prstGeom prst="line">
            <a:avLst/>
          </a:prstGeom>
          <a:ln w="12700">
            <a:solidFill>
              <a:srgbClr val="1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92240" y="4544568"/>
            <a:ext cx="4663440" cy="54864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AEB8C6"/>
                </a:solidFill>
                <a:latin typeface="Aptos"/>
              </a:rPr>
              <a:t>Sans soutien, les conséquences peuvent fragiliser la scolarité, l’insertion et les relations sociales.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5559552"/>
            <a:ext cx="10972800" cy="530352"/>
          </a:xfrm>
          <a:prstGeom prst="roundRect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5669280"/>
            <a:ext cx="10515600" cy="265176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C2938"/>
                </a:solidFill>
                <a:latin typeface="Aptos"/>
              </a:rPr>
              <a:t>Stigmatisation, peur du jugement et méconnaissance des services alimentent le silence et retardent la demande d’aide.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5728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286"/>
                </a:solidFill>
                <a:latin typeface="Apto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02 • LA RÉPONSE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8638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Une campagne jeunesse,</a:t>
            </a:r>
            <a:br/>
            <a:r>
              <a:rPr sz="2700" b="1" i="0">
                <a:solidFill>
                  <a:srgbClr val="FFFFFF"/>
                </a:solidFill>
                <a:latin typeface="Aptos Display"/>
              </a:rPr>
              <a:t>pas une action ponctuelle.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90472"/>
            <a:ext cx="10881360" cy="36576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AEB8C6"/>
                </a:solidFill>
                <a:latin typeface="Aptos"/>
              </a:rPr>
              <a:t>Une 2ᵉ édition construite pour relier prévention des VBG, santé mentale et accès aux mécanismes de soutien.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11680"/>
            <a:ext cx="6784848" cy="3300984"/>
          </a:xfrm>
          <a:prstGeom prst="roundRect">
            <a:avLst/>
          </a:prstGeom>
          <a:solidFill>
            <a:srgbClr val="1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608076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OBJECTIF GÉNÉRAL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15768"/>
            <a:ext cx="6080760" cy="155448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Contribuer à la prévention et à la réduction des VBG par une campagne de sensibilisation, d’information, de mobilisation et de plaidoyer impliquant particulièrement les jeunes.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62856"/>
            <a:ext cx="6035040" cy="46634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EB8C6"/>
                </a:solidFill>
                <a:latin typeface="Aptos"/>
              </a:rPr>
              <a:t>Faire des 16 jours un véritable mouvement de jeunesse, au-delà d’une activité ponctuelle.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0104" y="2011680"/>
            <a:ext cx="3895344" cy="3300984"/>
          </a:xfrm>
          <a:prstGeom prst="round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2313432"/>
            <a:ext cx="3218688" cy="2194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CAMPAGNE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2862072"/>
            <a:ext cx="3255264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25 NOV.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3557016"/>
            <a:ext cx="3255264" cy="32004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↓  16 JOURS 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0144" y="3968496"/>
            <a:ext cx="3255264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10 DÉC.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4754880"/>
            <a:ext cx="3218688" cy="29260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COTONOU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5559552"/>
            <a:ext cx="2560320" cy="2194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26B35"/>
                </a:solidFill>
                <a:latin typeface="Aptos"/>
              </a:rPr>
              <a:t>ALIGNEMENT ODD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6352" y="5468112"/>
            <a:ext cx="3246120" cy="438912"/>
          </a:xfrm>
          <a:prstGeom prst="roundRect">
            <a:avLst/>
          </a:prstGeom>
          <a:solidFill>
            <a:srgbClr val="1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5224" y="5550408"/>
            <a:ext cx="2990088" cy="256032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ptos"/>
              </a:rPr>
              <a:t>ODD 3  •  Santé et bien-être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5468112"/>
            <a:ext cx="3657600" cy="438912"/>
          </a:xfrm>
          <a:prstGeom prst="roundRect">
            <a:avLst/>
          </a:prstGeom>
          <a:solidFill>
            <a:srgbClr val="1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5550408"/>
            <a:ext cx="3401568" cy="256032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ptos"/>
              </a:rPr>
              <a:t>ODD 5  •  Égalité entre les sexes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035040"/>
            <a:ext cx="10972800" cy="2011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AEB8C6"/>
                </a:solidFill>
                <a:latin typeface="Aptos"/>
              </a:rPr>
              <a:t>Thème : « S’unir pour prévenir et mettre fin aux violences faites aux femmes et aux filles. 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1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AEB8C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AEB8C6"/>
                </a:solidFill>
                <a:latin typeface="Apto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03 • CIBLES PRÉVISIONNELLES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024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938"/>
                </a:solidFill>
                <a:latin typeface="Aptos Display"/>
              </a:rPr>
              <a:t>Des engagements mesurables, dès le départ.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881360" cy="4389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286"/>
                </a:solidFill>
                <a:latin typeface="Aptos"/>
              </a:rPr>
              <a:t>Les chiffres ci-dessous sont les résultats attendus du TDR — pas des résultats déjà atteints.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965960"/>
            <a:ext cx="2624328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" y="1965960"/>
            <a:ext cx="73152" cy="1444752"/>
          </a:xfrm>
          <a:prstGeom prst="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130552"/>
            <a:ext cx="2212848" cy="51206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26B35"/>
                </a:solidFill>
                <a:latin typeface="Aptos Display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752344"/>
            <a:ext cx="2212848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C2938"/>
                </a:solidFill>
                <a:latin typeface="Aptos"/>
              </a:rPr>
              <a:t>contenus numériques</a:t>
            </a:r>
            <a:br/>
            <a:r>
              <a:rPr sz="1140" b="1" i="0">
                <a:solidFill>
                  <a:srgbClr val="1C2938"/>
                </a:solidFill>
                <a:latin typeface="Aptos"/>
              </a:rPr>
              <a:t>1 par jour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965960"/>
            <a:ext cx="2624328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1965960"/>
            <a:ext cx="73152" cy="1444752"/>
          </a:xfrm>
          <a:prstGeom prst="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2130552"/>
            <a:ext cx="2212848" cy="51206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26B35"/>
                </a:solidFill>
                <a:latin typeface="Aptos Display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752344"/>
            <a:ext cx="2212848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C2938"/>
                </a:solidFill>
                <a:latin typeface="Aptos"/>
              </a:rPr>
              <a:t>jours de sensibilisation</a:t>
            </a:r>
            <a:br/>
            <a:r>
              <a:rPr sz="1140" b="1" i="0">
                <a:solidFill>
                  <a:srgbClr val="1C2938"/>
                </a:solidFill>
                <a:latin typeface="Aptos"/>
              </a:rPr>
              <a:t>de proximité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965960"/>
            <a:ext cx="2624328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965960"/>
            <a:ext cx="73152" cy="1444752"/>
          </a:xfrm>
          <a:prstGeom prst="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130552"/>
            <a:ext cx="2212848" cy="51206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26B35"/>
                </a:solidFill>
                <a:latin typeface="Aptos Display"/>
              </a:rPr>
              <a:t>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752344"/>
            <a:ext cx="2212848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C2938"/>
                </a:solidFill>
                <a:latin typeface="Aptos"/>
              </a:rPr>
              <a:t>jeunes visés</a:t>
            </a:r>
            <a:br/>
            <a:r>
              <a:rPr sz="1140" b="1" i="0">
                <a:solidFill>
                  <a:srgbClr val="1C2938"/>
                </a:solidFill>
                <a:latin typeface="Aptos"/>
              </a:rPr>
              <a:t>en présentiel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9408" y="1965960"/>
            <a:ext cx="2624328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79408" y="1965960"/>
            <a:ext cx="73152" cy="1444752"/>
          </a:xfrm>
          <a:prstGeom prst="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2130552"/>
            <a:ext cx="2212848" cy="51206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26B35"/>
                </a:solidFill>
                <a:latin typeface="Aptos Display"/>
              </a:rPr>
              <a:t>2 000+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752344"/>
            <a:ext cx="2212848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C2938"/>
                </a:solidFill>
                <a:latin typeface="Aptos"/>
              </a:rPr>
              <a:t>personnes touchées</a:t>
            </a:r>
            <a:br/>
            <a:r>
              <a:rPr sz="1140" b="1" i="0">
                <a:solidFill>
                  <a:srgbClr val="1C2938"/>
                </a:solidFill>
                <a:latin typeface="Aptos"/>
              </a:rPr>
              <a:t>en ligne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3657600"/>
            <a:ext cx="3511296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" y="3657600"/>
            <a:ext cx="73152" cy="1444752"/>
          </a:xfrm>
          <a:prstGeom prst="rect">
            <a:avLst/>
          </a:prstGeom>
          <a:solidFill>
            <a:srgbClr val="2F7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822191"/>
            <a:ext cx="3099815" cy="51206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F7973"/>
                </a:solidFill>
                <a:latin typeface="Aptos Display"/>
              </a:rPr>
              <a:t>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4443984"/>
            <a:ext cx="3099815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C2938"/>
                </a:solidFill>
                <a:latin typeface="Aptos"/>
              </a:rPr>
              <a:t>jeunes à une audience</a:t>
            </a:r>
            <a:br/>
            <a:r>
              <a:rPr sz="1140" b="1" i="0">
                <a:solidFill>
                  <a:srgbClr val="1C2938"/>
                </a:solidFill>
                <a:latin typeface="Aptos"/>
              </a:rPr>
              <a:t>judiciaire liée aux VBG (CRIET)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657600"/>
            <a:ext cx="3511296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657600"/>
            <a:ext cx="73152" cy="1444752"/>
          </a:xfrm>
          <a:prstGeom prst="rect">
            <a:avLst/>
          </a:prstGeom>
          <a:solidFill>
            <a:srgbClr val="2F7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3822191"/>
            <a:ext cx="3099815" cy="51206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F7973"/>
                </a:solidFill>
                <a:latin typeface="Aptos Display"/>
              </a:rPr>
              <a:t>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4443984"/>
            <a:ext cx="3099815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C2938"/>
                </a:solidFill>
                <a:latin typeface="Aptos"/>
              </a:rPr>
              <a:t>jeunes mobilisés</a:t>
            </a:r>
            <a:br/>
            <a:r>
              <a:rPr sz="1140" b="1" i="0">
                <a:solidFill>
                  <a:srgbClr val="1C2938"/>
                </a:solidFill>
                <a:latin typeface="Aptos"/>
              </a:rPr>
              <a:t>pour le footing citoyen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4152" y="3657600"/>
            <a:ext cx="3511296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74152" y="3657600"/>
            <a:ext cx="73152" cy="1444752"/>
          </a:xfrm>
          <a:prstGeom prst="rect">
            <a:avLst/>
          </a:prstGeom>
          <a:solidFill>
            <a:srgbClr val="2F7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3822191"/>
            <a:ext cx="3099815" cy="51206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F7973"/>
                </a:solidFill>
                <a:latin typeface="Aptos Display"/>
              </a:rPr>
              <a:t>50–70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4443984"/>
            <a:ext cx="3099815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C2938"/>
                </a:solidFill>
                <a:latin typeface="Aptos"/>
              </a:rPr>
              <a:t>acteurs à l’atelier</a:t>
            </a:r>
            <a:br/>
            <a:r>
              <a:rPr sz="1140" b="1" i="0">
                <a:solidFill>
                  <a:srgbClr val="1C2938"/>
                </a:solidFill>
                <a:latin typeface="Aptos"/>
              </a:rPr>
              <a:t>de restitution et de synergie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5422392"/>
            <a:ext cx="10972800" cy="539496"/>
          </a:xfrm>
          <a:prstGeom prst="round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" y="5541264"/>
            <a:ext cx="10515600" cy="265176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ptos"/>
              </a:rPr>
              <a:t>Un équilibre entre information, présence de terrain, apprentissage institutionnel, mobilisation et redevabilité.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5728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286"/>
                </a:solidFill>
                <a:latin typeface="Apto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04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132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C2938"/>
                </a:solidFill>
                <a:latin typeface="Aptos Display"/>
              </a:rPr>
              <a:t>Une campagne pensée comme un parcours.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881360" cy="4389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286"/>
                </a:solidFill>
                <a:latin typeface="Aptos"/>
              </a:rPr>
              <a:t>Cinq leviers complémentaires, déployés pendant les 16 jours d’activisme.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84831"/>
            <a:ext cx="2075688" cy="2999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304288"/>
            <a:ext cx="438912" cy="438912"/>
          </a:xfrm>
          <a:prstGeom prst="ellipse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368296"/>
            <a:ext cx="438912" cy="256032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552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916936"/>
            <a:ext cx="1737360" cy="64008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938"/>
                </a:solidFill>
                <a:latin typeface="Aptos"/>
              </a:rPr>
              <a:t>NUMÉRIQUE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8" y="3749039"/>
            <a:ext cx="1627632" cy="0"/>
          </a:xfrm>
          <a:prstGeom prst="line">
            <a:avLst/>
          </a:prstGeom>
          <a:ln w="1143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8" y="3959352"/>
            <a:ext cx="1737360" cy="7132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286"/>
                </a:solidFill>
                <a:latin typeface="Aptos"/>
              </a:rPr>
              <a:t>16 contenus</a:t>
            </a:r>
            <a:br/>
            <a:r>
              <a:rPr sz="1200" b="0" i="0">
                <a:solidFill>
                  <a:srgbClr val="657286"/>
                </a:solidFill>
                <a:latin typeface="Aptos"/>
              </a:rPr>
              <a:t>1 par jour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084831"/>
            <a:ext cx="2075688" cy="2999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7520" y="2304288"/>
            <a:ext cx="438912" cy="438912"/>
          </a:xfrm>
          <a:prstGeom prst="ellipse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368296"/>
            <a:ext cx="438912" cy="256032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5523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16936"/>
            <a:ext cx="1737360" cy="64008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938"/>
                </a:solidFill>
                <a:latin typeface="Aptos"/>
              </a:rPr>
              <a:t>PROXIMITÉ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3749039"/>
            <a:ext cx="1627632" cy="0"/>
          </a:xfrm>
          <a:prstGeom prst="line">
            <a:avLst/>
          </a:prstGeom>
          <a:ln w="1143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17520" y="3959352"/>
            <a:ext cx="1737360" cy="7132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286"/>
                </a:solidFill>
                <a:latin typeface="Aptos"/>
              </a:rPr>
              <a:t>10 jours dans les</a:t>
            </a:r>
            <a:br/>
            <a:r>
              <a:rPr sz="1200" b="0" i="0">
                <a:solidFill>
                  <a:srgbClr val="657286"/>
                </a:solidFill>
                <a:latin typeface="Aptos"/>
              </a:rPr>
              <a:t>lieux de vie des jeunes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6632" y="2084831"/>
            <a:ext cx="2075688" cy="2999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39512" y="2304288"/>
            <a:ext cx="438912" cy="438912"/>
          </a:xfrm>
          <a:prstGeom prst="ellipse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2368296"/>
            <a:ext cx="438912" cy="256032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5523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916936"/>
            <a:ext cx="1737360" cy="64008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938"/>
                </a:solidFill>
                <a:latin typeface="Aptos"/>
              </a:rPr>
              <a:t>DIALOGUE &amp;</a:t>
            </a:r>
            <a:br/>
            <a:r>
              <a:rPr sz="1250" b="1" i="0">
                <a:solidFill>
                  <a:srgbClr val="1C2938"/>
                </a:solidFill>
                <a:latin typeface="Aptos"/>
              </a:rPr>
              <a:t>APPRENTISSAGE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39512" y="3749039"/>
            <a:ext cx="1627632" cy="0"/>
          </a:xfrm>
          <a:prstGeom prst="line">
            <a:avLst/>
          </a:prstGeom>
          <a:ln w="1143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39512" y="3959352"/>
            <a:ext cx="1737360" cy="7132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286"/>
                </a:solidFill>
                <a:latin typeface="Aptos"/>
              </a:rPr>
              <a:t>Causerie-débat</a:t>
            </a:r>
            <a:br/>
            <a:r>
              <a:rPr sz="1200" b="0" i="0">
                <a:solidFill>
                  <a:srgbClr val="657286"/>
                </a:solidFill>
                <a:latin typeface="Aptos"/>
              </a:rPr>
              <a:t>+ INF / CRIET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78624" y="2084831"/>
            <a:ext cx="2075688" cy="2999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61504" y="2304288"/>
            <a:ext cx="438912" cy="438912"/>
          </a:xfrm>
          <a:prstGeom prst="ellipse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2368296"/>
            <a:ext cx="438912" cy="256032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5523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2916936"/>
            <a:ext cx="1737360" cy="64008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938"/>
                </a:solidFill>
                <a:latin typeface="Aptos"/>
              </a:rPr>
              <a:t>MOBILISATION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61504" y="3749039"/>
            <a:ext cx="1627632" cy="0"/>
          </a:xfrm>
          <a:prstGeom prst="line">
            <a:avLst/>
          </a:prstGeom>
          <a:ln w="1143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61504" y="3959352"/>
            <a:ext cx="1737360" cy="7132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286"/>
                </a:solidFill>
                <a:latin typeface="Aptos"/>
              </a:rPr>
              <a:t>Footing citoyen</a:t>
            </a:r>
            <a:br/>
            <a:r>
              <a:rPr sz="1200" b="0" i="0">
                <a:solidFill>
                  <a:srgbClr val="657286"/>
                </a:solidFill>
                <a:latin typeface="Aptos"/>
              </a:rPr>
              <a:t>contre les VBG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0616" y="2084831"/>
            <a:ext cx="2075688" cy="2999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83496" y="2304288"/>
            <a:ext cx="438912" cy="438912"/>
          </a:xfrm>
          <a:prstGeom prst="ellipse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3496" y="2368296"/>
            <a:ext cx="438912" cy="256032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5523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3496" y="2916936"/>
            <a:ext cx="1737360" cy="64008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938"/>
                </a:solidFill>
                <a:latin typeface="Aptos"/>
              </a:rPr>
              <a:t>PLAIDOYER &amp;</a:t>
            </a:r>
            <a:br/>
            <a:r>
              <a:rPr sz="1250" b="1" i="0">
                <a:solidFill>
                  <a:srgbClr val="1C2938"/>
                </a:solidFill>
                <a:latin typeface="Aptos"/>
              </a:rPr>
              <a:t>PÉRENNISATION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83496" y="3749039"/>
            <a:ext cx="1627632" cy="0"/>
          </a:xfrm>
          <a:prstGeom prst="line">
            <a:avLst/>
          </a:prstGeom>
          <a:ln w="1143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683496" y="3959352"/>
            <a:ext cx="1737360" cy="7132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286"/>
                </a:solidFill>
                <a:latin typeface="Aptos"/>
              </a:rPr>
              <a:t>Bilan partagé</a:t>
            </a:r>
            <a:br/>
            <a:r>
              <a:rPr sz="1200" b="0" i="0">
                <a:solidFill>
                  <a:srgbClr val="657286"/>
                </a:solidFill>
                <a:latin typeface="Aptos"/>
              </a:rPr>
              <a:t>et résolutions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5404104"/>
            <a:ext cx="1920240" cy="2194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26B35"/>
                </a:solidFill>
                <a:latin typeface="Aptos"/>
              </a:rPr>
              <a:t>LE FIL CONDUCTEUR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12848" y="5340096"/>
            <a:ext cx="9235440" cy="29260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42238"/>
                </a:solidFill>
                <a:latin typeface="Aptos"/>
              </a:rPr>
              <a:t>INFORMER   →   ALLER-VERS   →   COMPRENDRE   →   MOBILISER   →   CAPITALISER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5769864"/>
            <a:ext cx="10972800" cy="26517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1">
                <a:solidFill>
                  <a:srgbClr val="657286"/>
                </a:solidFill>
                <a:latin typeface="Aptos"/>
              </a:rPr>
              <a:t>Approche participative, inclusive et orientée vers l’action, portée par les jeunes pairs éducateurs.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5728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286"/>
                </a:solidFill>
                <a:latin typeface="Apto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05 • ACTIVITÉ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132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C2938"/>
                </a:solidFill>
                <a:latin typeface="Aptos Display"/>
              </a:rPr>
              <a:t>16 jours pour parler là où les jeunes sont.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881360" cy="4389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286"/>
                </a:solidFill>
                <a:latin typeface="Aptos"/>
              </a:rPr>
              <a:t>Une présence numérique quotidienne, portée par le MAJ et ses partenaires.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975104"/>
            <a:ext cx="3822191" cy="3950208"/>
          </a:xfrm>
          <a:prstGeom prst="round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67712"/>
            <a:ext cx="3182112" cy="86868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FFFFFF"/>
                </a:solidFill>
                <a:latin typeface="Aptos Display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182112"/>
            <a:ext cx="3182112" cy="2560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26B35"/>
                </a:solidFill>
                <a:latin typeface="Aptos"/>
              </a:rPr>
              <a:t>CONTENUS  •  1 PAR JOUR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611880"/>
            <a:ext cx="3145536" cy="81381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Du 25 novembre</a:t>
            </a:r>
            <a:br/>
            <a:r>
              <a:rPr sz="1800" b="1" i="0">
                <a:solidFill>
                  <a:srgbClr val="FFFFFF"/>
                </a:solidFill>
                <a:latin typeface="Aptos"/>
              </a:rPr>
              <a:t>au 10 décembre 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4599432"/>
            <a:ext cx="3035808" cy="0"/>
          </a:xfrm>
          <a:prstGeom prst="line">
            <a:avLst/>
          </a:prstGeom>
          <a:ln w="12700">
            <a:solidFill>
              <a:srgbClr val="1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1832" y="4809744"/>
            <a:ext cx="3182112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26B35"/>
                </a:solidFill>
                <a:latin typeface="Aptos Display"/>
              </a:rPr>
              <a:t>2 000+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5330952"/>
            <a:ext cx="3182112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AEB8C6"/>
                </a:solidFill>
                <a:latin typeface="Aptos"/>
              </a:rPr>
              <a:t>personnes visées en ligne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1975104"/>
            <a:ext cx="6848856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592" y="1975104"/>
            <a:ext cx="73152" cy="1078992"/>
          </a:xfrm>
          <a:prstGeom prst="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0056" y="2130552"/>
            <a:ext cx="6217920" cy="2011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26B35"/>
                </a:solidFill>
                <a:latin typeface="Aptos"/>
              </a:rPr>
              <a:t>FORMATS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6" y="2423160"/>
            <a:ext cx="6236208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1C2938"/>
                </a:solidFill>
                <a:latin typeface="Aptos"/>
              </a:rPr>
              <a:t>Publications • infographies • vidéos</a:t>
            </a:r>
            <a:br/>
            <a:r>
              <a:rPr sz="1210" b="1" i="0">
                <a:solidFill>
                  <a:srgbClr val="1C2938"/>
                </a:solidFill>
                <a:latin typeface="Aptos"/>
              </a:rPr>
              <a:t>témoignages • quiz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3264408"/>
            <a:ext cx="6848856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6592" y="3264408"/>
            <a:ext cx="73152" cy="1078992"/>
          </a:xfrm>
          <a:prstGeom prst="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0056" y="3419856"/>
            <a:ext cx="6217920" cy="2011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26B35"/>
                </a:solidFill>
                <a:latin typeface="Aptos"/>
              </a:rPr>
              <a:t>FIL CONDUCTEUR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0056" y="3712463"/>
            <a:ext cx="6236208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1C2938"/>
                </a:solidFill>
                <a:latin typeface="Aptos"/>
              </a:rPr>
              <a:t>Formes de VBG • conséquences • santé mentale</a:t>
            </a:r>
            <a:br/>
            <a:r>
              <a:rPr sz="1210" b="1" i="0">
                <a:solidFill>
                  <a:srgbClr val="1C2938"/>
                </a:solidFill>
                <a:latin typeface="Aptos"/>
              </a:rPr>
              <a:t>écoute, soutien et services disponibles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592" y="4553712"/>
            <a:ext cx="6848856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36592" y="4553712"/>
            <a:ext cx="73152" cy="1078992"/>
          </a:xfrm>
          <a:prstGeom prst="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0056" y="4709160"/>
            <a:ext cx="6217920" cy="2011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26B35"/>
                </a:solidFill>
                <a:latin typeface="Aptos"/>
              </a:rPr>
              <a:t>RELAIS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6" y="5001768"/>
            <a:ext cx="6236208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1C2938"/>
                </a:solidFill>
                <a:latin typeface="Aptos"/>
              </a:rPr>
              <a:t>Plateformes du MAJ et de ses partenaires :</a:t>
            </a:r>
            <a:br/>
            <a:r>
              <a:rPr sz="1210" b="1" i="0">
                <a:solidFill>
                  <a:srgbClr val="1C2938"/>
                </a:solidFill>
                <a:latin typeface="Aptos"/>
              </a:rPr>
              <a:t>partager largement les messages de prévention.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779008"/>
            <a:ext cx="667512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7973"/>
                </a:solidFill>
                <a:latin typeface="Aptos"/>
              </a:rPr>
              <a:t>Cible attendue : au moins 2 000 personnes touchées en ligne.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5728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286"/>
                </a:solidFill>
                <a:latin typeface="Apto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06 • ACTIVITÉ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024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938"/>
                </a:solidFill>
                <a:latin typeface="Aptos Display"/>
              </a:rPr>
              <a:t>Dix journées pour aller à la rencontre des jeunes.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881360" cy="4389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286"/>
                </a:solidFill>
                <a:latin typeface="Aptos"/>
              </a:rPr>
              <a:t>Une sensibilisation de proximité à Cotonou, animée par les jeunes pairs éducateurs.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11680"/>
            <a:ext cx="3657600" cy="3639312"/>
          </a:xfrm>
          <a:prstGeom prst="roundRect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59152"/>
            <a:ext cx="301752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523"/>
                </a:solidFill>
                <a:latin typeface="Aptos"/>
              </a:rPr>
              <a:t>CALENDRIER PRÉVU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880360"/>
            <a:ext cx="3054096" cy="56692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238"/>
                </a:solidFill>
                <a:latin typeface="Aptos Display"/>
              </a:rPr>
              <a:t>26 NOV.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17320" y="3639312"/>
            <a:ext cx="2029968" cy="0"/>
          </a:xfrm>
          <a:prstGeom prst="line">
            <a:avLst/>
          </a:prstGeom>
          <a:ln w="33020">
            <a:solidFill>
              <a:srgbClr val="F2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53312" y="3575304"/>
            <a:ext cx="128016" cy="128016"/>
          </a:xfrm>
          <a:prstGeom prst="ellipse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3280" y="3575304"/>
            <a:ext cx="128016" cy="128016"/>
          </a:xfrm>
          <a:prstGeom prst="ellipse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3822191"/>
            <a:ext cx="3054096" cy="56692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238"/>
                </a:solidFill>
                <a:latin typeface="Aptos Display"/>
              </a:rPr>
              <a:t>05 DÉC.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6424" y="4654296"/>
            <a:ext cx="265176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754880"/>
            <a:ext cx="2395728" cy="274320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C2938"/>
                </a:solidFill>
                <a:latin typeface="Aptos"/>
              </a:rPr>
              <a:t>10 jours  •  Cotonou</a:t>
            </a:r>
          </a:p>
        </p:txBody>
      </p:sp>
      <p:sp>
        <p:nvSpPr>
          <p:cNvPr id="14" name="Oval 13"/>
          <p:cNvSpPr/>
          <p:nvPr/>
        </p:nvSpPr>
        <p:spPr>
          <a:xfrm>
            <a:off x="4709160" y="2103120"/>
            <a:ext cx="347472" cy="347472"/>
          </a:xfrm>
          <a:prstGeom prst="ellipse">
            <a:avLst/>
          </a:prstGeom>
          <a:solidFill>
            <a:srgbClr val="E4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148840"/>
            <a:ext cx="347472" cy="23774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7973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029968"/>
            <a:ext cx="1280160" cy="2194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26B35"/>
                </a:solidFill>
                <a:latin typeface="Aptos"/>
              </a:rPr>
              <a:t>OÙ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313432"/>
            <a:ext cx="5897880" cy="53035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C2938"/>
                </a:solidFill>
                <a:latin typeface="Aptos"/>
              </a:rPr>
              <a:t>Collèges, centres de formation et structures ciblées.</a:t>
            </a:r>
          </a:p>
        </p:txBody>
      </p:sp>
      <p:sp>
        <p:nvSpPr>
          <p:cNvPr id="18" name="Oval 17"/>
          <p:cNvSpPr/>
          <p:nvPr/>
        </p:nvSpPr>
        <p:spPr>
          <a:xfrm>
            <a:off x="4709160" y="3118104"/>
            <a:ext cx="347472" cy="347472"/>
          </a:xfrm>
          <a:prstGeom prst="ellipse">
            <a:avLst/>
          </a:prstGeom>
          <a:solidFill>
            <a:srgbClr val="E4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163824"/>
            <a:ext cx="347472" cy="23774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7973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3044952"/>
            <a:ext cx="1280160" cy="2194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26B35"/>
                </a:solidFill>
                <a:latin typeface="Aptos"/>
              </a:rPr>
              <a:t>COMMENT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328416"/>
            <a:ext cx="5897880" cy="53035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C2938"/>
                </a:solidFill>
                <a:latin typeface="Aptos"/>
              </a:rPr>
              <a:t>Des équipes de jeunes pairs éducateurs vont à la rencontre des groupes.</a:t>
            </a:r>
          </a:p>
        </p:txBody>
      </p:sp>
      <p:sp>
        <p:nvSpPr>
          <p:cNvPr id="22" name="Oval 21"/>
          <p:cNvSpPr/>
          <p:nvPr/>
        </p:nvSpPr>
        <p:spPr>
          <a:xfrm>
            <a:off x="4709160" y="4133088"/>
            <a:ext cx="347472" cy="347472"/>
          </a:xfrm>
          <a:prstGeom prst="ellipse">
            <a:avLst/>
          </a:prstGeom>
          <a:solidFill>
            <a:srgbClr val="E4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4178808"/>
            <a:ext cx="347472" cy="23774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7973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4059936"/>
            <a:ext cx="1280160" cy="2194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26B35"/>
                </a:solidFill>
                <a:latin typeface="Aptos"/>
              </a:rPr>
              <a:t>QUOI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4343400"/>
            <a:ext cx="5897880" cy="53035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C2938"/>
                </a:solidFill>
                <a:latin typeface="Aptos"/>
              </a:rPr>
              <a:t>Formes et conséquences des VBG, mécanismes de prise en charge et soutien.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5212080"/>
            <a:ext cx="6876288" cy="502920"/>
          </a:xfrm>
          <a:prstGeom prst="round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5312664"/>
            <a:ext cx="6446520" cy="29260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FFFFF"/>
                </a:solidFill>
                <a:latin typeface="Aptos"/>
              </a:rPr>
              <a:t>CIBLE : 500 jeunes mieux informés en présentiel.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5728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286"/>
                </a:solidFill>
                <a:latin typeface="Apto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07 • ACTIVITÉ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8638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C2938"/>
                </a:solidFill>
                <a:latin typeface="Aptos Display"/>
              </a:rPr>
              <a:t>Ouvrir un espace de parole sur les VBG</a:t>
            </a:r>
            <a:br/>
            <a:r>
              <a:rPr sz="2700" b="1" i="0">
                <a:solidFill>
                  <a:srgbClr val="1C2938"/>
                </a:solidFill>
                <a:latin typeface="Aptos Display"/>
              </a:rPr>
              <a:t>et le bien-être psychologique.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90472"/>
            <a:ext cx="10881360" cy="36576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657286"/>
                </a:solidFill>
                <a:latin typeface="Aptos"/>
              </a:rPr>
              <a:t>Une causerie-débat pour relier prévention, santé mentale et soutien psychosocial.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21408"/>
            <a:ext cx="2834640" cy="3429000"/>
          </a:xfrm>
          <a:prstGeom prst="round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87168"/>
            <a:ext cx="2267712" cy="2560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ptos"/>
              </a:rPr>
              <a:t>CAUSERIE-DÉBAT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980944"/>
            <a:ext cx="2286000" cy="128016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FFFFFF"/>
                </a:solidFill>
                <a:latin typeface="Aptos Display"/>
              </a:rPr>
              <a:t>Parler.</a:t>
            </a:r>
            <a:br/>
            <a:r>
              <a:rPr sz="2050" b="1" i="0">
                <a:solidFill>
                  <a:srgbClr val="FFFFFF"/>
                </a:solidFill>
                <a:latin typeface="Aptos Display"/>
              </a:rPr>
              <a:t>Comprendre.</a:t>
            </a:r>
            <a:br/>
            <a:r>
              <a:rPr sz="2050" b="1" i="0">
                <a:solidFill>
                  <a:srgbClr val="FFFFFF"/>
                </a:solidFill>
                <a:latin typeface="Aptos Display"/>
              </a:rPr>
              <a:t>Savoir où agir.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764024"/>
            <a:ext cx="2286000" cy="4297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FFFFFF"/>
                </a:solidFill>
                <a:latin typeface="Aptos"/>
              </a:rPr>
              <a:t>Participation active des jeunes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2191" y="2121408"/>
            <a:ext cx="2313432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23359" y="2414016"/>
            <a:ext cx="420624" cy="420624"/>
          </a:xfrm>
          <a:prstGeom prst="ellipse">
            <a:avLst/>
          </a:prstGeom>
          <a:solidFill>
            <a:srgbClr val="E4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2478024"/>
            <a:ext cx="420624" cy="24688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F7973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3054096"/>
            <a:ext cx="1920240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C2938"/>
                </a:solidFill>
                <a:latin typeface="Aptos"/>
              </a:rPr>
              <a:t>COMPRENDRE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59" y="3685032"/>
            <a:ext cx="1883664" cy="0"/>
          </a:xfrm>
          <a:prstGeom prst="line">
            <a:avLst/>
          </a:prstGeom>
          <a:ln w="1016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23359" y="3931920"/>
            <a:ext cx="1911095" cy="1042415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657286"/>
                </a:solidFill>
                <a:latin typeface="Aptos"/>
              </a:rPr>
              <a:t>Échanger sur les causes</a:t>
            </a:r>
            <a:br/>
            <a:r>
              <a:rPr sz="1180" b="0" i="0">
                <a:solidFill>
                  <a:srgbClr val="657286"/>
                </a:solidFill>
                <a:latin typeface="Aptos"/>
              </a:rPr>
              <a:t>et la prévention des VBG.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2121408"/>
            <a:ext cx="2313432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0" y="2414016"/>
            <a:ext cx="420624" cy="420624"/>
          </a:xfrm>
          <a:prstGeom prst="ellipse">
            <a:avLst/>
          </a:prstGeom>
          <a:solidFill>
            <a:srgbClr val="E4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478024"/>
            <a:ext cx="420624" cy="24688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F7973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54096"/>
            <a:ext cx="1920240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C2938"/>
                </a:solidFill>
                <a:latin typeface="Aptos"/>
              </a:rPr>
              <a:t>RECONNAÎTRE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0" y="3685032"/>
            <a:ext cx="1883664" cy="0"/>
          </a:xfrm>
          <a:prstGeom prst="line">
            <a:avLst/>
          </a:prstGeom>
          <a:ln w="1016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0" y="3931920"/>
            <a:ext cx="1911095" cy="1042415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657286"/>
                </a:solidFill>
                <a:latin typeface="Aptos"/>
              </a:rPr>
              <a:t>Mettre en lumière les effets</a:t>
            </a:r>
            <a:br/>
            <a:r>
              <a:rPr sz="1180" b="0" i="0">
                <a:solidFill>
                  <a:srgbClr val="657286"/>
                </a:solidFill>
                <a:latin typeface="Aptos"/>
              </a:rPr>
              <a:t>sur la santé mentale.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2121408"/>
            <a:ext cx="2313432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0" y="2414016"/>
            <a:ext cx="420624" cy="420624"/>
          </a:xfrm>
          <a:prstGeom prst="ellipse">
            <a:avLst/>
          </a:prstGeom>
          <a:solidFill>
            <a:srgbClr val="E4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478024"/>
            <a:ext cx="420624" cy="24688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F7973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054096"/>
            <a:ext cx="1920240" cy="47548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C2938"/>
                </a:solidFill>
                <a:latin typeface="Aptos"/>
              </a:rPr>
              <a:t>S’ORIENTER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0" y="3685032"/>
            <a:ext cx="1883663" cy="0"/>
          </a:xfrm>
          <a:prstGeom prst="line">
            <a:avLst/>
          </a:prstGeom>
          <a:ln w="1016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0" y="3931920"/>
            <a:ext cx="1911095" cy="1042415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657286"/>
                </a:solidFill>
                <a:latin typeface="Aptos"/>
              </a:rPr>
              <a:t>Faire connaître l’écoute,</a:t>
            </a:r>
            <a:br/>
            <a:r>
              <a:rPr sz="1180" b="0" i="0">
                <a:solidFill>
                  <a:srgbClr val="657286"/>
                </a:solidFill>
                <a:latin typeface="Aptos"/>
              </a:rPr>
              <a:t>le soutien et les services.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815584"/>
            <a:ext cx="109728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238"/>
                </a:solidFill>
                <a:latin typeface="Aptos"/>
              </a:rPr>
              <a:t>Résultat attendu : des jeunes qui connaissent mieux l’impact des VBG et les dispositifs de soutien disponibles, notamment ceux de l’INF.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5728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286"/>
                </a:solidFill>
                <a:latin typeface="Apto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08 • ACTIVITÉ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024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 Display"/>
              </a:rPr>
              <a:t>Rendre les mécanismes de recours plus concrets.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881360" cy="4389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EB8C6"/>
                </a:solidFill>
                <a:latin typeface="Aptos"/>
              </a:rPr>
              <a:t>Une immersion institutionnelle pour mieux comprendre les réponses juridiques et les dispositifs d’accompagnement.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993392"/>
            <a:ext cx="5330952" cy="3273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76856"/>
            <a:ext cx="4617720" cy="2560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26B35"/>
                </a:solidFill>
                <a:latin typeface="Aptos"/>
              </a:rPr>
              <a:t>VISITE INSTITUTIONNELLE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706624"/>
            <a:ext cx="4645152" cy="61264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2238"/>
                </a:solidFill>
                <a:latin typeface="Aptos Display"/>
              </a:rPr>
              <a:t>INF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429000"/>
            <a:ext cx="4590288" cy="1033271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C2938"/>
                </a:solidFill>
                <a:latin typeface="Aptos"/>
              </a:rPr>
              <a:t>Découvrir le rôle de l’Institut National de la Femme et mieux connaître les mécanismes de prise en charge et d’orientation.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690872"/>
            <a:ext cx="1947672" cy="356616"/>
          </a:xfrm>
          <a:prstGeom prst="roundRect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764024"/>
            <a:ext cx="1764792" cy="20116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869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D95523"/>
                </a:solidFill>
                <a:latin typeface="Aptos"/>
              </a:rPr>
              <a:t>ÉCOUTE • ORIENTATION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93392"/>
            <a:ext cx="5367528" cy="3273552"/>
          </a:xfrm>
          <a:prstGeom prst="round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276856"/>
            <a:ext cx="4663440" cy="2560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Aptos"/>
              </a:rPr>
              <a:t>IMMERSION JUDICIAIRE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706624"/>
            <a:ext cx="4663440" cy="61264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 Display"/>
              </a:rPr>
              <a:t>CRIET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29000"/>
            <a:ext cx="4599432" cy="1033271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FFFFFF"/>
                </a:solidFill>
                <a:latin typeface="Aptos"/>
              </a:rPr>
              <a:t>Assister à une audience liée aux VBG pour rendre plus lisibles le parcours judiciaire et les mécanismes de recours.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4690872"/>
            <a:ext cx="2048256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4764024"/>
            <a:ext cx="1847088" cy="20116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869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D95523"/>
                </a:solidFill>
                <a:latin typeface="Aptos"/>
              </a:rPr>
              <a:t>70 JEUNES VISÉS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5522976"/>
            <a:ext cx="10881360" cy="42062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AEB8C6"/>
                </a:solidFill>
                <a:latin typeface="Aptos"/>
              </a:rPr>
              <a:t>Visite à l’INF et accès à l’audience à la CRIET à organiser avec l’appui des institutions et selon leurs modalités.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1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AEB8C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AEB8C6"/>
                </a:solidFill>
                <a:latin typeface="Apto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09 • ACTIVITÉ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024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 Display"/>
              </a:rPr>
              <a:t>Le footing citoyen : un message collectif et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881360" cy="4389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EB8C6"/>
                </a:solidFill>
                <a:latin typeface="Aptos"/>
              </a:rPr>
              <a:t>Une mobilisation sportive pour dénoncer les VBG et amplifier la visibilité de la campagne.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859536" y="4407408"/>
            <a:ext cx="2157984" cy="667512"/>
          </a:xfrm>
          <a:prstGeom prst="line">
            <a:avLst/>
          </a:prstGeom>
          <a:ln w="38100">
            <a:solidFill>
              <a:srgbClr val="F2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17520" y="4407408"/>
            <a:ext cx="2194560" cy="329184"/>
          </a:xfrm>
          <a:prstGeom prst="line">
            <a:avLst/>
          </a:prstGeom>
          <a:ln w="38100">
            <a:solidFill>
              <a:srgbClr val="F2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212080" y="4187952"/>
            <a:ext cx="2331720" cy="548640"/>
          </a:xfrm>
          <a:prstGeom prst="line">
            <a:avLst/>
          </a:prstGeom>
          <a:ln w="38100">
            <a:solidFill>
              <a:srgbClr val="F2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43800" y="4187952"/>
            <a:ext cx="3319272" cy="420624"/>
          </a:xfrm>
          <a:prstGeom prst="line">
            <a:avLst/>
          </a:prstGeom>
          <a:ln w="38100">
            <a:solidFill>
              <a:srgbClr val="F2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4919472"/>
            <a:ext cx="310896" cy="310896"/>
          </a:xfrm>
          <a:prstGeom prst="ellipse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951476"/>
            <a:ext cx="310896" cy="23774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871216" y="4251960"/>
            <a:ext cx="310896" cy="310896"/>
          </a:xfrm>
          <a:prstGeom prst="ellipse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4283964"/>
            <a:ext cx="310896" cy="23774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065776" y="4581144"/>
            <a:ext cx="310896" cy="310896"/>
          </a:xfrm>
          <a:prstGeom prst="ellipse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5776" y="4613148"/>
            <a:ext cx="310896" cy="23774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7397496" y="4032504"/>
            <a:ext cx="310896" cy="310896"/>
          </a:xfrm>
          <a:prstGeom prst="ellipse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4064508"/>
            <a:ext cx="310896" cy="23774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10716768" y="4453128"/>
            <a:ext cx="310896" cy="310896"/>
          </a:xfrm>
          <a:prstGeom prst="ellipse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16768" y="4485132"/>
            <a:ext cx="310896" cy="23774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2039112"/>
            <a:ext cx="3017520" cy="1078992"/>
          </a:xfrm>
          <a:prstGeom prst="roundRect">
            <a:avLst/>
          </a:prstGeom>
          <a:solidFill>
            <a:srgbClr val="1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276856"/>
            <a:ext cx="2450592" cy="53949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26B35"/>
                </a:solidFill>
                <a:latin typeface="Aptos Display"/>
              </a:rPr>
              <a:t>100+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2788920"/>
            <a:ext cx="2441448" cy="19202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Aptos"/>
              </a:rPr>
              <a:t>JEUNES À MOBILISER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2121408"/>
            <a:ext cx="6858000" cy="64008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FFFFFF"/>
                </a:solidFill>
                <a:latin typeface="Aptos Display"/>
              </a:rPr>
              <a:t>Courir ensemble,</a:t>
            </a:r>
            <a:br/>
            <a:r>
              <a:rPr sz="2050" b="1" i="0">
                <a:solidFill>
                  <a:srgbClr val="FFFFFF"/>
                </a:solidFill>
                <a:latin typeface="Aptos Display"/>
              </a:rPr>
              <a:t>refuser les violences.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3337560"/>
            <a:ext cx="6739128" cy="4572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EB8C6"/>
                </a:solidFill>
                <a:latin typeface="Aptos"/>
              </a:rPr>
              <a:t>Au cours de la campagne • à Cotonou • date précise à confirmer dans le calendrier opérationnel.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77840"/>
            <a:ext cx="10607040" cy="29260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Cible attendue : au moins 100 jeunes, avec un message public de prévention et de dénonciation des VBG.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1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AEB8C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AEB8C6"/>
                </a:solidFill>
                <a:latin typeface="Apto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10 • ACTIVITÉ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024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938"/>
                </a:solidFill>
                <a:latin typeface="Aptos Display"/>
              </a:rPr>
              <a:t>10 décembre : transformer le bilan en décisions.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881360" cy="4389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286"/>
                </a:solidFill>
                <a:latin typeface="Aptos"/>
              </a:rPr>
              <a:t>L’atelier de restitution et de synergie d’action clôture les 16 jours et prépare la suite.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11680"/>
            <a:ext cx="3255264" cy="3602736"/>
          </a:xfrm>
          <a:prstGeom prst="round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68296"/>
            <a:ext cx="2615184" cy="6583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26B35"/>
                </a:solidFill>
                <a:latin typeface="Aptos Display"/>
              </a:rPr>
              <a:t>50–70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063240"/>
            <a:ext cx="2615184" cy="32004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ACTEURS ATTENDUS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6696" y="3602736"/>
            <a:ext cx="2478024" cy="0"/>
          </a:xfrm>
          <a:prstGeom prst="line">
            <a:avLst/>
          </a:prstGeom>
          <a:ln w="12700">
            <a:solidFill>
              <a:srgbClr val="1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2688" y="3831336"/>
            <a:ext cx="2615184" cy="126187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1488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EB8C6"/>
                </a:solidFill>
                <a:latin typeface="Aptos"/>
              </a:rPr>
              <a:t>MAJ • organisations</a:t>
            </a:r>
            <a:br/>
            <a:r>
              <a:rPr sz="1220" b="0" i="0">
                <a:solidFill>
                  <a:srgbClr val="AEB8C6"/>
                </a:solidFill>
                <a:latin typeface="Aptos"/>
              </a:rPr>
              <a:t>de jeunes et de femmes</a:t>
            </a:r>
            <a:br/>
            <a:r>
              <a:rPr sz="1220" b="0" i="0">
                <a:solidFill>
                  <a:srgbClr val="AEB8C6"/>
                </a:solidFill>
                <a:latin typeface="Aptos"/>
              </a:rPr>
              <a:t>partenaires • autorités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51376" y="2011680"/>
            <a:ext cx="3447288" cy="36027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2331720"/>
            <a:ext cx="2807208" cy="2560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6B35"/>
                </a:solidFill>
                <a:latin typeface="Aptos"/>
              </a:rPr>
              <a:t>RENDRE COMPTE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834640"/>
            <a:ext cx="2761488" cy="16002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938"/>
                </a:solidFill>
                <a:latin typeface="Aptos"/>
              </a:rPr>
              <a:t>• Résultats terrain et en ligne</a:t>
            </a:r>
            <a:br/>
            <a:r>
              <a:rPr sz="1200" b="0" i="0">
                <a:solidFill>
                  <a:srgbClr val="1C2938"/>
                </a:solidFill>
                <a:latin typeface="Aptos"/>
              </a:rPr>
              <a:t>• Statistiques des personnes sensibilisées</a:t>
            </a:r>
            <a:br/>
            <a:r>
              <a:rPr sz="1200" b="0" i="0">
                <a:solidFill>
                  <a:srgbClr val="1C2938"/>
                </a:solidFill>
                <a:latin typeface="Aptos"/>
              </a:rPr>
              <a:t>• Bilan, approches et enseignements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7" y="2011680"/>
            <a:ext cx="3703320" cy="3602736"/>
          </a:xfrm>
          <a:prstGeom prst="roundRect">
            <a:avLst/>
          </a:prstGeom>
          <a:solidFill>
            <a:srgbClr val="E4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2331720"/>
            <a:ext cx="3017520" cy="2560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973"/>
                </a:solidFill>
                <a:latin typeface="Aptos"/>
              </a:rPr>
              <a:t>SE PROJETER ENSEMBLE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834640"/>
            <a:ext cx="3017520" cy="16002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938"/>
                </a:solidFill>
                <a:latin typeface="Aptos"/>
              </a:rPr>
              <a:t>• Identifier les pistes de collaboration</a:t>
            </a:r>
            <a:br/>
            <a:r>
              <a:rPr sz="1200" b="0" i="0">
                <a:solidFill>
                  <a:srgbClr val="1C2938"/>
                </a:solidFill>
                <a:latin typeface="Aptos"/>
              </a:rPr>
              <a:t>• Renforcer la synergie d’action</a:t>
            </a:r>
            <a:br/>
            <a:r>
              <a:rPr sz="1200" b="0" i="0">
                <a:solidFill>
                  <a:srgbClr val="1C2938"/>
                </a:solidFill>
                <a:latin typeface="Aptos"/>
              </a:rPr>
              <a:t>• Prendre des résolutions pour l’année à venir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843016"/>
            <a:ext cx="10881360" cy="2103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>
                <a:solidFill>
                  <a:srgbClr val="657286"/>
                </a:solidFill>
                <a:latin typeface="Aptos"/>
              </a:rPr>
              <a:t>Un temps de restitution, de plaidoyer, d’engagement des partenaires et de clôture conviviale.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5728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286"/>
                </a:solidFill>
                <a:latin typeface="Apto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11 • SUIVI &amp; CAPITALISATION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132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C2938"/>
                </a:solidFill>
                <a:latin typeface="Aptos Display"/>
              </a:rPr>
              <a:t>Des preuves, pas seulement des promesses.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881360" cy="4389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286"/>
                </a:solidFill>
                <a:latin typeface="Aptos"/>
              </a:rPr>
              <a:t>La campagne prévoit de documenter les réalisations et de partager un bilan utile aux partenaires.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84831"/>
            <a:ext cx="3502152" cy="21762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350008"/>
            <a:ext cx="493776" cy="493776"/>
          </a:xfrm>
          <a:prstGeom prst="ellipse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432304"/>
            <a:ext cx="493776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D9552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035808"/>
            <a:ext cx="3017520" cy="28346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C2938"/>
                </a:solidFill>
                <a:latin typeface="Aptos"/>
              </a:rPr>
              <a:t>SUIVRE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65576"/>
            <a:ext cx="3017520" cy="56692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10" b="0" i="0">
                <a:solidFill>
                  <a:srgbClr val="657286"/>
                </a:solidFill>
                <a:latin typeface="Aptos"/>
              </a:rPr>
              <a:t>Listes de présence</a:t>
            </a:r>
            <a:br/>
            <a:r>
              <a:rPr sz="1210" b="0" i="0">
                <a:solidFill>
                  <a:srgbClr val="657286"/>
                </a:solidFill>
                <a:latin typeface="Aptos"/>
              </a:rPr>
              <a:t>aux activités en présentiel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84831"/>
            <a:ext cx="3502152" cy="21762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2350008"/>
            <a:ext cx="493776" cy="493776"/>
          </a:xfrm>
          <a:prstGeom prst="ellipse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32304"/>
            <a:ext cx="493776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D9552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35808"/>
            <a:ext cx="3017520" cy="28346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C2938"/>
                </a:solidFill>
                <a:latin typeface="Aptos"/>
              </a:rPr>
              <a:t>DOCUMENTER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65576"/>
            <a:ext cx="3017520" cy="56692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10" b="0" i="0">
                <a:solidFill>
                  <a:srgbClr val="657286"/>
                </a:solidFill>
                <a:latin typeface="Aptos"/>
              </a:rPr>
              <a:t>Rapports d’activités</a:t>
            </a:r>
            <a:br/>
            <a:r>
              <a:rPr sz="1210" b="0" i="0">
                <a:solidFill>
                  <a:srgbClr val="657286"/>
                </a:solidFill>
                <a:latin typeface="Aptos"/>
              </a:rPr>
              <a:t>et photos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2084831"/>
            <a:ext cx="3502152" cy="21762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2752" y="2350008"/>
            <a:ext cx="493776" cy="493776"/>
          </a:xfrm>
          <a:prstGeom prst="ellipse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432304"/>
            <a:ext cx="493776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D9552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035808"/>
            <a:ext cx="3017520" cy="28346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C2938"/>
                </a:solidFill>
                <a:latin typeface="Aptos"/>
              </a:rPr>
              <a:t>RESTITUER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465576"/>
            <a:ext cx="3017520" cy="56692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10" b="0" i="0">
                <a:solidFill>
                  <a:srgbClr val="657286"/>
                </a:solidFill>
                <a:latin typeface="Aptos"/>
              </a:rPr>
              <a:t>Fiche synthèse des personnes touchées</a:t>
            </a:r>
            <a:br/>
            <a:r>
              <a:rPr sz="1210" b="0" i="0">
                <a:solidFill>
                  <a:srgbClr val="657286"/>
                </a:solidFill>
                <a:latin typeface="Aptos"/>
              </a:rPr>
              <a:t>terrain + numérique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645152"/>
            <a:ext cx="10972800" cy="987552"/>
          </a:xfrm>
          <a:prstGeom prst="round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73752"/>
            <a:ext cx="150876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26B35"/>
                </a:solidFill>
                <a:latin typeface="Aptos"/>
              </a:rPr>
              <a:t>LE 10 DÉC.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7712" y="4809744"/>
            <a:ext cx="8979408" cy="47548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FFFFF"/>
                </a:solidFill>
                <a:latin typeface="Aptos"/>
              </a:rPr>
              <a:t>Les chiffres et les enseignements alimentent la restitution, les pistes de collaboration et les résolutions des partenaires.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897880"/>
            <a:ext cx="10972800" cy="2011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57286"/>
                </a:solidFill>
                <a:latin typeface="Aptos"/>
              </a:rPr>
              <a:t>Livrables prévus au TDR : rapports • listes de présence • fiche de synthèse • photos.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5728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286"/>
                </a:solidFill>
                <a:latin typeface="Apto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12 • BUDGET SOLLICITÉ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024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938"/>
                </a:solidFill>
                <a:latin typeface="Aptos Display"/>
              </a:rPr>
              <a:t>Un investissement ciblé : 1 150 000 FCFA.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881360" cy="4389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286"/>
                </a:solidFill>
                <a:latin typeface="Aptos"/>
              </a:rPr>
              <a:t>Le montant et les postes ci-dessous reprennent le budget présenté dans le TDR.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938528"/>
            <a:ext cx="6912864" cy="4041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139696"/>
            <a:ext cx="5093208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1C2938"/>
                </a:solidFill>
                <a:latin typeface="Aptos"/>
              </a:rPr>
              <a:t>Communication &amp; conception des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6752" y="2139696"/>
            <a:ext cx="1197864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r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1C2938"/>
                </a:solidFill>
                <a:latin typeface="Aptos"/>
              </a:rPr>
              <a:t>120 000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" y="2532888"/>
            <a:ext cx="6336792" cy="0"/>
          </a:xfrm>
          <a:prstGeom prst="line">
            <a:avLst/>
          </a:prstGeom>
          <a:ln w="6985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" y="2633472"/>
            <a:ext cx="5093208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1C2938"/>
                </a:solidFill>
                <a:latin typeface="Aptos"/>
              </a:rPr>
              <a:t>T-shirts (70)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2633472"/>
            <a:ext cx="1197864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r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1C2938"/>
                </a:solidFill>
                <a:latin typeface="Aptos"/>
              </a:rPr>
              <a:t>210 000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" y="3026664"/>
            <a:ext cx="6336792" cy="0"/>
          </a:xfrm>
          <a:prstGeom prst="line">
            <a:avLst/>
          </a:prstGeom>
          <a:ln w="6985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7824" y="3127248"/>
            <a:ext cx="5093208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1C2938"/>
                </a:solidFill>
                <a:latin typeface="Aptos"/>
              </a:rPr>
              <a:t>Prise en charge des équipes (50)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3127248"/>
            <a:ext cx="1197864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r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1C2938"/>
                </a:solidFill>
                <a:latin typeface="Aptos"/>
              </a:rPr>
              <a:t>250 000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" y="3520440"/>
            <a:ext cx="6336792" cy="0"/>
          </a:xfrm>
          <a:prstGeom prst="line">
            <a:avLst/>
          </a:prstGeom>
          <a:ln w="6985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7824" y="3621024"/>
            <a:ext cx="5093208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1C2938"/>
                </a:solidFill>
                <a:latin typeface="Aptos"/>
              </a:rPr>
              <a:t>Comité d’organisation (10)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3621024"/>
            <a:ext cx="1197864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r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1C2938"/>
                </a:solidFill>
                <a:latin typeface="Aptos"/>
              </a:rPr>
              <a:t>100 000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" y="4014215"/>
            <a:ext cx="6336792" cy="0"/>
          </a:xfrm>
          <a:prstGeom prst="line">
            <a:avLst/>
          </a:prstGeom>
          <a:ln w="6985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7824" y="4114800"/>
            <a:ext cx="5093208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1C2938"/>
                </a:solidFill>
                <a:latin typeface="Aptos"/>
              </a:rPr>
              <a:t>Déplacements du comité (10)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4114800"/>
            <a:ext cx="1197864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r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1C2938"/>
                </a:solidFill>
                <a:latin typeface="Aptos"/>
              </a:rPr>
              <a:t>20 000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" y="4507992"/>
            <a:ext cx="6336792" cy="0"/>
          </a:xfrm>
          <a:prstGeom prst="line">
            <a:avLst/>
          </a:prstGeom>
          <a:ln w="6985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7824" y="4608576"/>
            <a:ext cx="5093208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1C2938"/>
                </a:solidFill>
                <a:latin typeface="Aptos"/>
              </a:rPr>
              <a:t>Location de salle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4608576"/>
            <a:ext cx="1197864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r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1C2938"/>
                </a:solidFill>
                <a:latin typeface="Aptos"/>
              </a:rPr>
              <a:t>200 000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" y="5001768"/>
            <a:ext cx="6336792" cy="0"/>
          </a:xfrm>
          <a:prstGeom prst="line">
            <a:avLst/>
          </a:prstGeom>
          <a:ln w="6985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7824" y="5102352"/>
            <a:ext cx="5093208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1C2938"/>
                </a:solidFill>
                <a:latin typeface="Aptos"/>
              </a:rPr>
              <a:t>Pause déjeuner (100)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5102352"/>
            <a:ext cx="1197864" cy="283464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r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1C2938"/>
                </a:solidFill>
                <a:latin typeface="Aptos"/>
              </a:rPr>
              <a:t>250 000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7824" y="5596128"/>
            <a:ext cx="6336792" cy="0"/>
          </a:xfrm>
          <a:prstGeom prst="line">
            <a:avLst/>
          </a:prstGeom>
          <a:ln w="17780">
            <a:solidFill>
              <a:srgbClr val="F2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7824" y="5650992"/>
            <a:ext cx="3840480" cy="2194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D95523"/>
                </a:solidFill>
                <a:latin typeface="Aptos"/>
              </a:rPr>
              <a:t>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5641848"/>
            <a:ext cx="1536192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D95523"/>
                </a:solidFill>
                <a:latin typeface="Aptos"/>
              </a:rPr>
              <a:t>1 150 000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1938528"/>
            <a:ext cx="3767328" cy="4041648"/>
          </a:xfrm>
          <a:prstGeom prst="round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2276856"/>
            <a:ext cx="3099816" cy="2194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AEB8C6"/>
                </a:solidFill>
                <a:latin typeface="Aptos"/>
              </a:rPr>
              <a:t>BUDGET DEMANDÉ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304" y="2697480"/>
            <a:ext cx="3108960" cy="57607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650" b="1" i="0">
                <a:solidFill>
                  <a:srgbClr val="F26B35"/>
                </a:solidFill>
                <a:latin typeface="Aptos Display"/>
              </a:rPr>
              <a:t>1 150 000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7304" y="3264408"/>
            <a:ext cx="3108960" cy="23774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FCFA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74736" y="3703320"/>
            <a:ext cx="3054096" cy="0"/>
          </a:xfrm>
          <a:prstGeom prst="line">
            <a:avLst/>
          </a:prstGeom>
          <a:ln w="12700">
            <a:solidFill>
              <a:srgbClr val="1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56448" y="3877056"/>
            <a:ext cx="3072384" cy="2103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AEB8C6"/>
                </a:solidFill>
                <a:latin typeface="Aptos"/>
              </a:rPr>
              <a:t>LECTURE SYNTHÉTIQUE DES POSTES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4251960"/>
            <a:ext cx="2011680" cy="2011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Logistique événementielle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4251960"/>
            <a:ext cx="960120" cy="2011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EB8C6"/>
                </a:solidFill>
                <a:latin typeface="Aptos"/>
              </a:rPr>
              <a:t>450 000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6448" y="4526280"/>
            <a:ext cx="3035808" cy="100584"/>
          </a:xfrm>
          <a:prstGeom prst="roundRect">
            <a:avLst/>
          </a:prstGeom>
          <a:solidFill>
            <a:srgbClr val="1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56448" y="4526280"/>
            <a:ext cx="2975091" cy="100584"/>
          </a:xfrm>
          <a:prstGeom prst="round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56448" y="4773168"/>
            <a:ext cx="2011680" cy="2011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Mobilisation des équipes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4773168"/>
            <a:ext cx="960120" cy="2011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EB8C6"/>
                </a:solidFill>
                <a:latin typeface="Aptos"/>
              </a:rPr>
              <a:t>370 000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56448" y="5047488"/>
            <a:ext cx="3035808" cy="100584"/>
          </a:xfrm>
          <a:prstGeom prst="roundRect">
            <a:avLst/>
          </a:prstGeom>
          <a:solidFill>
            <a:srgbClr val="1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56448" y="5047488"/>
            <a:ext cx="2459004" cy="100584"/>
          </a:xfrm>
          <a:prstGeom prst="roundRect">
            <a:avLst/>
          </a:prstGeom>
          <a:solidFill>
            <a:srgbClr val="2F7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56448" y="5294376"/>
            <a:ext cx="2011680" cy="2011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Visibilité &amp; supports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5294376"/>
            <a:ext cx="960120" cy="201168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EB8C6"/>
                </a:solidFill>
                <a:latin typeface="Aptos"/>
              </a:rPr>
              <a:t>330 000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56448" y="5568696"/>
            <a:ext cx="3035808" cy="100584"/>
          </a:xfrm>
          <a:prstGeom prst="roundRect">
            <a:avLst/>
          </a:prstGeom>
          <a:solidFill>
            <a:srgbClr val="1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56448" y="5568696"/>
            <a:ext cx="2185781" cy="1005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6126480"/>
            <a:ext cx="10972800" cy="17373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1">
                <a:solidFill>
                  <a:srgbClr val="657286"/>
                </a:solidFill>
                <a:latin typeface="Aptos"/>
              </a:rPr>
              <a:t>Appuis en nature (salle, collation, facilitation) à valoriser et à articuler avec le besoin financier net.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5728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286"/>
                </a:solidFill>
                <a:latin typeface="Apto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7772400" cy="2286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6B35"/>
                </a:solidFill>
                <a:latin typeface="Aptos"/>
              </a:rPr>
              <a:t>13 • PARTENARIAT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132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C2938"/>
                </a:solidFill>
                <a:latin typeface="Aptos Display"/>
              </a:rPr>
              <a:t>Un appui utile, concret et mesurable.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881360" cy="4389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286"/>
                </a:solidFill>
                <a:latin typeface="Aptos"/>
              </a:rPr>
              <a:t>Chaque partenaire peut contribuer selon ses moyens : financement, expertise, facilitation ou relais.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39112"/>
            <a:ext cx="2615184" cy="2331720"/>
          </a:xfrm>
          <a:prstGeom prst="roundRect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50008"/>
            <a:ext cx="2157984" cy="2560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5523"/>
                </a:solidFill>
                <a:latin typeface="Aptos"/>
              </a:rPr>
              <a:t>FINANCER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52928"/>
            <a:ext cx="2167128" cy="11338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938"/>
                </a:solidFill>
                <a:latin typeface="Aptos"/>
              </a:rPr>
              <a:t>Contribuer au budget</a:t>
            </a:r>
            <a:br/>
            <a:r>
              <a:rPr sz="1300" b="1" i="0">
                <a:solidFill>
                  <a:srgbClr val="1C2938"/>
                </a:solidFill>
                <a:latin typeface="Aptos"/>
              </a:rPr>
              <a:t>sollicité de</a:t>
            </a:r>
            <a:br/>
            <a:r>
              <a:rPr sz="1300" b="1" i="0">
                <a:solidFill>
                  <a:srgbClr val="1C2938"/>
                </a:solidFill>
                <a:latin typeface="Aptos"/>
              </a:rPr>
              <a:t>1 150 000 FCFA.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2039112"/>
            <a:ext cx="2615184" cy="2331720"/>
          </a:xfrm>
          <a:prstGeom prst="roundRect">
            <a:avLst/>
          </a:prstGeom>
          <a:solidFill>
            <a:srgbClr val="E4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350008"/>
            <a:ext cx="2157984" cy="2560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973"/>
                </a:solidFill>
                <a:latin typeface="Aptos"/>
              </a:rPr>
              <a:t>FACILITER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852928"/>
            <a:ext cx="2167128" cy="11338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938"/>
                </a:solidFill>
                <a:latin typeface="Aptos"/>
              </a:rPr>
              <a:t>Soutenir l’accès aux</a:t>
            </a:r>
            <a:br/>
            <a:r>
              <a:rPr sz="1300" b="1" i="0">
                <a:solidFill>
                  <a:srgbClr val="1C2938"/>
                </a:solidFill>
                <a:latin typeface="Aptos"/>
              </a:rPr>
              <a:t>institutions et les</a:t>
            </a:r>
            <a:br/>
            <a:r>
              <a:rPr sz="1300" b="1" i="0">
                <a:solidFill>
                  <a:srgbClr val="1C2938"/>
                </a:solidFill>
                <a:latin typeface="Aptos"/>
              </a:rPr>
              <a:t>conditions logistiques.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39112"/>
            <a:ext cx="2615184" cy="2331720"/>
          </a:xfrm>
          <a:prstGeom prst="roundRect">
            <a:avLst/>
          </a:prstGeom>
          <a:solidFill>
            <a:srgbClr val="FB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50008"/>
            <a:ext cx="2157984" cy="2560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5523"/>
                </a:solidFill>
                <a:latin typeface="Aptos"/>
              </a:rPr>
              <a:t>DIFFUSER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52928"/>
            <a:ext cx="2167128" cy="11338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938"/>
                </a:solidFill>
                <a:latin typeface="Aptos"/>
              </a:rPr>
              <a:t>Faire circuler les</a:t>
            </a:r>
            <a:br/>
            <a:r>
              <a:rPr sz="1300" b="1" i="0">
                <a:solidFill>
                  <a:srgbClr val="1C2938"/>
                </a:solidFill>
                <a:latin typeface="Aptos"/>
              </a:rPr>
              <a:t>16 contenus auprès</a:t>
            </a:r>
            <a:br/>
            <a:r>
              <a:rPr sz="1300" b="1" i="0">
                <a:solidFill>
                  <a:srgbClr val="1C2938"/>
                </a:solidFill>
                <a:latin typeface="Aptos"/>
              </a:rPr>
              <a:t>de vos communautés.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408" y="2039112"/>
            <a:ext cx="2615184" cy="2331720"/>
          </a:xfrm>
          <a:prstGeom prst="roundRect">
            <a:avLst/>
          </a:prstGeom>
          <a:solidFill>
            <a:srgbClr val="E4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350008"/>
            <a:ext cx="2157984" cy="25603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973"/>
                </a:solidFill>
                <a:latin typeface="Aptos"/>
              </a:rPr>
              <a:t>S’ENGAGER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852928"/>
            <a:ext cx="2167128" cy="11338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938"/>
                </a:solidFill>
                <a:latin typeface="Aptos"/>
              </a:rPr>
              <a:t>Participer au bilan</a:t>
            </a:r>
            <a:br/>
            <a:r>
              <a:rPr sz="1300" b="1" i="0">
                <a:solidFill>
                  <a:srgbClr val="1C2938"/>
                </a:solidFill>
                <a:latin typeface="Aptos"/>
              </a:rPr>
              <a:t>et prendre des</a:t>
            </a:r>
            <a:br/>
            <a:r>
              <a:rPr sz="1300" b="1" i="0">
                <a:solidFill>
                  <a:srgbClr val="1C2938"/>
                </a:solidFill>
                <a:latin typeface="Aptos"/>
              </a:rPr>
              <a:t>résolutions communes.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4681728"/>
            <a:ext cx="10972800" cy="1088136"/>
          </a:xfrm>
          <a:prstGeom prst="round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01184"/>
            <a:ext cx="1920240" cy="21031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26B35"/>
                </a:solidFill>
                <a:latin typeface="Aptos"/>
              </a:rPr>
              <a:t>L’INVITATION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4837176"/>
            <a:ext cx="8321040" cy="530352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Associez-vous à une campagne jeunesse qui relie prévention, santé mentale et accès aux soutiens.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43600"/>
            <a:ext cx="10972800" cy="19202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57286"/>
                </a:solidFill>
                <a:latin typeface="Aptos"/>
              </a:rPr>
              <a:t>Appuis institutionnels évoqués dans le TDR : salle, pause-café et facilitation de l’accès à une audience à la CRIET.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7620">
            <a:solidFill>
              <a:srgbClr val="E8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8" y="6492240"/>
            <a:ext cx="585216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57286"/>
                </a:solidFill>
                <a:latin typeface="Aptos"/>
              </a:rPr>
              <a:t>PAUSE ORANGE 2026  •  MAJ DE COTONOU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3072" y="6492240"/>
            <a:ext cx="731520" cy="164592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57286"/>
                </a:solidFill>
                <a:latin typeface="Apto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use_orang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_cov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12648" y="594360"/>
            <a:ext cx="146304" cy="146304"/>
          </a:xfrm>
          <a:prstGeom prst="ellipse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30352"/>
            <a:ext cx="5669280" cy="27432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MOUVEMENT D’ACTION DES JEUNES  •  COTONOU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81328"/>
            <a:ext cx="5943600" cy="15910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ENSEMBLE,</a:t>
            </a:r>
            <a:br/>
            <a:r>
              <a:rPr sz="3000" b="1" i="0">
                <a:solidFill>
                  <a:srgbClr val="FFFFFF"/>
                </a:solidFill>
                <a:latin typeface="Aptos Display"/>
              </a:rPr>
              <a:t>FAISONS DES 16 JOURS</a:t>
            </a:r>
            <a:br/>
            <a:r>
              <a:rPr sz="3000" b="1" i="0">
                <a:solidFill>
                  <a:srgbClr val="FFFFFF"/>
                </a:solidFill>
                <a:latin typeface="Aptos Display"/>
              </a:rPr>
              <a:t>UN MOUVEMENT DURABLE.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3438144"/>
            <a:ext cx="758952" cy="0"/>
          </a:xfrm>
          <a:prstGeom prst="line">
            <a:avLst/>
          </a:prstGeom>
          <a:ln w="29209">
            <a:solidFill>
              <a:srgbClr val="F2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3675887"/>
            <a:ext cx="5669280" cy="50292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6B35"/>
                </a:solidFill>
                <a:latin typeface="Aptos"/>
              </a:rPr>
              <a:t>PAUSE ORANGE 2026  •  2ᵉ ÉDITION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325112"/>
            <a:ext cx="5760720" cy="685800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530" b="0" i="0">
                <a:solidFill>
                  <a:srgbClr val="FFFFFF"/>
                </a:solidFill>
                <a:latin typeface="Aptos"/>
              </a:rPr>
              <a:t>Prévenir les VBG, soutenir le bien-être des jeunes et renforcer la synergie d’action.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5321808"/>
            <a:ext cx="3291840" cy="448056"/>
          </a:xfrm>
          <a:prstGeom prst="roundRect">
            <a:avLst/>
          </a:prstGeom>
          <a:solidFill>
            <a:srgbClr val="F2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404104"/>
            <a:ext cx="2971800" cy="274320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PARTENAIRES BIENVENUS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961888"/>
            <a:ext cx="5669280" cy="219456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Aptos"/>
              </a:rPr>
              <a:t>25 NOV. — 10 DÉC. 2026  |  COTONOU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6528816"/>
            <a:ext cx="2651760" cy="146304"/>
          </a:xfrm>
          <a:prstGeom prst="rect">
            <a:avLst/>
          </a:prstGeom>
          <a:noFill/>
        </p:spPr>
        <p:txBody>
          <a:bodyPr wrap="square" lIns="9144" rIns="9144" tIns="4572" bIns="4572" anchor="t">
            <a:spAutoFit/>
          </a:bodyPr>
          <a:lstStyle/>
          <a:p>
            <a:pPr algn="r">
              <a:lnSpc>
                <a:spcPts val="73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FFFFFF"/>
                </a:solidFill>
                <a:latin typeface="Aptos"/>
              </a:rPr>
              <a:t>Visuel d’illustration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Pause Orange 2026 — Présentation partenaires</dc:title>
  <dc:subject>Campagne des 16 jours d’activisme contre les violences basées sur le genre</dc:subject>
  <dc:creator>Mouvement d’Action des Jeunes (MAJ) de Cotonou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